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19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64FD-13DC-C27A-9D3E-3961DFC9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397C6-1053-217E-4B05-ACF357CCA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E39DE-D433-25D9-845D-5C6167AB2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8A472-9D05-A76F-9C54-63FBA0EBD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6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82880"/>
            <a:ext cx="5029200" cy="4114800"/>
          </a:xfrm>
          <a:prstGeom prst="ellipse">
            <a:avLst/>
          </a:prstGeom>
          <a:solidFill>
            <a:srgbClr val="C9A84C">
              <a:alpha val="4000"/>
            </a:srgbClr>
          </a:solidFill>
          <a:ln w="12700">
            <a:solidFill>
              <a:srgbClr val="C9A84C">
                <a:alpha val="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01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C9A84C"/>
                </a:solidFill>
              </a:rPr>
              <a:t>DATA WAREHOUSE  ·  BUSINESS INTELLIGENCE  ·  POWER BI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Darkom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880"/>
                </a:solidFill>
              </a:rPr>
              <a:t>Pipeline ETL industriel — CSV vers dashboards Power BI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C9A84C">
              <a:alpha val="10000"/>
            </a:srgbClr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6A"/>
                </a:solidFill>
              </a:rPr>
              <a:t>PostgreSQL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30552" y="406908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C9A84C">
              <a:alpha val="10000"/>
            </a:srgbClr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6A"/>
                </a:solidFill>
              </a:rPr>
              <a:t>Python · Pandas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58184" y="406908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C9A84C">
              <a:alpha val="10000"/>
            </a:srgbClr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6A"/>
                </a:solidFill>
              </a:rPr>
              <a:t>SQLAlchemy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85816" y="406908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C9A84C">
              <a:alpha val="10000"/>
            </a:srgbClr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6A"/>
                </a:solidFill>
              </a:rPr>
              <a:t>Power BI · DAX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13448" y="406908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C9A84C">
              <a:alpha val="10000"/>
            </a:srgbClr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6A"/>
                </a:solidFill>
              </a:rPr>
              <a:t>Star Schema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Salma EL Yamani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02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CONTEXTE DU PROJET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Darkom.ma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défi de la donnée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880"/>
                </a:solidFill>
              </a:rPr>
              <a:t>Darkom.ma est une plateforme marocaine d'annonces immobilières permettant aux particuliers et professionnels de publier des offres de vente et location à travers tout le Maroc.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8880"/>
                </a:solidFill>
              </a:rPr>
              <a:t>Les données publiées sont hétérogènes, incomplètes et brutes — nécessitant un traitement rigoureux avant toute analyse décisionnelle.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4864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66160"/>
            <a:ext cx="3749040" cy="777240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0EDE8"/>
                </a:solidFill>
              </a:rPr>
              <a:t>L'objectif : transformer des données brutes CSV en tableaux de bord Power BI interactifs via un pipeline ETL industriel.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3840480" cy="297180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938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84C"/>
                </a:solidFill>
              </a:rPr>
              <a:t>Colonnes source — darkom_annonces.csv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annonce_id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9516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Identifiant unique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496312"/>
            <a:ext cx="3840480" cy="29260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532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date_publication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2532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Date de publication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8254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ville / quartier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28254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Localisation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081528"/>
            <a:ext cx="3840480" cy="29260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118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type_bien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31181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Appartement, Villa…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410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5160" y="34107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Vente / Location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666744"/>
            <a:ext cx="3840480" cy="29260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/ surface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Métriques clés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995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nb_chambres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995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Caractéristiques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251960"/>
            <a:ext cx="3840480" cy="29260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2885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annee_construction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42885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0"/>
                </a:solidFill>
              </a:rPr>
              <a:t>Année construction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03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Pipeline ETL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1508760" cy="777240"/>
          </a:xfrm>
          <a:prstGeom prst="rect">
            <a:avLst/>
          </a:prstGeom>
          <a:solidFill>
            <a:srgbClr val="1A1D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E8"/>
                </a:solidFill>
              </a:rPr>
              <a:t>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80"/>
                </a:solidFill>
              </a:rPr>
              <a:t>darkom_annonces.csv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65376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57400" y="1828800"/>
            <a:ext cx="1508760" cy="777240"/>
          </a:xfrm>
          <a:prstGeom prst="rect">
            <a:avLst/>
          </a:prstGeom>
          <a:solidFill>
            <a:srgbClr val="1A15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2194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6A"/>
                </a:solidFill>
              </a:rPr>
              <a:t>Staging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395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80"/>
                </a:solidFill>
              </a:rPr>
              <a:t>staging.staging_darkom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02736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1828800"/>
            <a:ext cx="1508760" cy="777240"/>
          </a:xfrm>
          <a:prstGeom prst="rect">
            <a:avLst/>
          </a:prstGeom>
          <a:solidFill>
            <a:srgbClr val="1A15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94760" y="2194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6A"/>
                </a:solidFill>
              </a:rPr>
              <a:t>Clean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94760" y="2395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80"/>
                </a:solidFill>
              </a:rPr>
              <a:t>clean.clean_darkom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40096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1828800"/>
            <a:ext cx="1508760" cy="777240"/>
          </a:xfrm>
          <a:prstGeom prst="rect">
            <a:avLst/>
          </a:prstGeom>
          <a:solidFill>
            <a:srgbClr val="1A15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2194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6A"/>
                </a:solidFill>
              </a:rPr>
              <a:t>Warehouse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2395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80"/>
                </a:solidFill>
              </a:rPr>
              <a:t>bi_schema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77456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69480" y="1828800"/>
            <a:ext cx="1508760" cy="777240"/>
          </a:xfrm>
          <a:prstGeom prst="rect">
            <a:avLst/>
          </a:prstGeom>
          <a:solidFill>
            <a:srgbClr val="1A1D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2194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E8"/>
                </a:solidFill>
              </a:rPr>
              <a:t>Power BI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2395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80"/>
                </a:solidFill>
              </a:rPr>
              <a:t>4 Dashboards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880360"/>
            <a:ext cx="2011680" cy="192024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4632" y="34290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load_raw.py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" y="3721608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Import CSV → PostgreSQL (staging). Vérification d'intégrité et logs de chargement.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14600" y="2880360"/>
            <a:ext cx="2011680" cy="192024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919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679192" y="34290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clean_raw.py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79192" y="3721608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Déduplication, gestion des nulls, outliers IQR, standardisation, feature engineering.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2880360"/>
            <a:ext cx="2011680" cy="192024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873752" y="34290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load_warhouse.py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73752" y="3721608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Construction du modèle dimensionnel en étoile. Chargement dans bi_schema.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2880360"/>
            <a:ext cx="2011680" cy="192024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831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▶️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068312" y="34290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68312" y="3721608"/>
            <a:ext cx="16824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Orchestrateur — exécution séquentielle des 3 étapes ETL du pipeline complet.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04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COUCHE CLEAN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Nettoyage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4023360" cy="658368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476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8"/>
                </a:solidFill>
              </a:rPr>
              <a:t>Déduplication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85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Suppression des doublons sur annonce_id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4023360" cy="658368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974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8"/>
                </a:solidFill>
              </a:rPr>
              <a:t>Valeurs manquantes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935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Fillna ciblé: quartier, type_bien, nb_chambres, annee_construction…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4023360" cy="658368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472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8"/>
                </a:solidFill>
              </a:rPr>
              <a:t>Outliers IQR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685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Filtrage par méthode interquartile sur prix, surface, nb_chambres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4023360" cy="658368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970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8"/>
                </a:solidFill>
              </a:rPr>
              <a:t>Standardisation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880"/>
                </a:solidFill>
              </a:rPr>
              <a:t>Normalisation villes (str.title), types de bien, 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749040" cy="306324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</a:rPr>
              <a:t>Variables dérivées créées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2286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prix_m2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20840" y="22860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prix ÷ surface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2633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age_bien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26334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année courante − annee_construction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0" y="29809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categorie_prix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20840" y="29809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Éco / Moyen / Haut Standing / Luxe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33284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categorie_surface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20840" y="3328416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Petit &lt;80 / Moyen 80-150 / Grand &gt;150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3675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annee_publication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36758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dt.year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0" y="4023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mois_publication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4023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dt.month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4370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trimestre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43708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dt.quarter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05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—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Warehouse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124200"/>
            <a:ext cx="1365467" cy="705316"/>
          </a:xfrm>
          <a:prstGeom prst="rect">
            <a:avLst/>
          </a:prstGeom>
          <a:solidFill>
            <a:srgbClr val="050B14"/>
          </a:solidFill>
          <a:ln w="19050">
            <a:solidFill>
              <a:srgbClr val="7E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169920"/>
            <a:ext cx="1365467" cy="158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7EC8FF"/>
                </a:solidFill>
              </a:rPr>
              <a:t>FAIT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920240" y="3361944"/>
            <a:ext cx="1365467" cy="246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fact_annonces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798320"/>
            <a:ext cx="1365467" cy="528987"/>
          </a:xfrm>
          <a:prstGeom prst="rect">
            <a:avLst/>
          </a:prstGeom>
          <a:solidFill>
            <a:srgbClr val="1A1500"/>
          </a:solidFill>
          <a:ln w="1016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834896"/>
            <a:ext cx="1365467" cy="14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C9A84C"/>
                </a:solidFill>
              </a:rPr>
              <a:t>DIM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20240" y="1999488"/>
            <a:ext cx="1365467" cy="22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dim_temps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28900" y="2346960"/>
            <a:ext cx="8809" cy="749399"/>
          </a:xfrm>
          <a:prstGeom prst="line">
            <a:avLst/>
          </a:prstGeom>
          <a:noFill/>
          <a:ln w="9525">
            <a:solidFill>
              <a:srgbClr val="C9A84C">
                <a:alpha val="50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91440" y="3215640"/>
            <a:ext cx="1365467" cy="528987"/>
          </a:xfrm>
          <a:prstGeom prst="rect">
            <a:avLst/>
          </a:prstGeom>
          <a:solidFill>
            <a:srgbClr val="1A1500"/>
          </a:solidFill>
          <a:ln w="1016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" y="3252216"/>
            <a:ext cx="1365467" cy="14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C9A84C"/>
                </a:solidFill>
              </a:rPr>
              <a:t>DIM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1440" y="3416808"/>
            <a:ext cx="1365467" cy="22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dim_ville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08760" y="3489960"/>
            <a:ext cx="396426" cy="8816"/>
          </a:xfrm>
          <a:prstGeom prst="line">
            <a:avLst/>
          </a:prstGeom>
          <a:noFill/>
          <a:ln w="9525">
            <a:solidFill>
              <a:srgbClr val="C9A84C">
                <a:alpha val="50000"/>
              </a:srgbClr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3749040" y="3215640"/>
            <a:ext cx="1365467" cy="528987"/>
          </a:xfrm>
          <a:prstGeom prst="rect">
            <a:avLst/>
          </a:prstGeom>
          <a:solidFill>
            <a:srgbClr val="1A1500"/>
          </a:solidFill>
          <a:ln w="1016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252216"/>
            <a:ext cx="1365467" cy="14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C9A84C"/>
                </a:solidFill>
              </a:rPr>
              <a:t>DIM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49040" y="3416808"/>
            <a:ext cx="1365467" cy="22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dim_type_bien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489960"/>
            <a:ext cx="396426" cy="8816"/>
          </a:xfrm>
          <a:prstGeom prst="line">
            <a:avLst/>
          </a:prstGeom>
          <a:noFill/>
          <a:ln w="9525">
            <a:solidFill>
              <a:srgbClr val="C9A84C">
                <a:alpha val="50000"/>
              </a:srgbClr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1920240" y="4541520"/>
            <a:ext cx="1365467" cy="528987"/>
          </a:xfrm>
          <a:prstGeom prst="rect">
            <a:avLst/>
          </a:prstGeom>
          <a:solidFill>
            <a:srgbClr val="1A1500"/>
          </a:solidFill>
          <a:ln w="1016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4578096"/>
            <a:ext cx="1365467" cy="14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C9A84C"/>
                </a:solidFill>
              </a:rPr>
              <a:t>DIM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20240" y="4742688"/>
            <a:ext cx="1365467" cy="22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dim_transaction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28900" y="3855720"/>
            <a:ext cx="8809" cy="661234"/>
          </a:xfrm>
          <a:prstGeom prst="line">
            <a:avLst/>
          </a:prstGeom>
          <a:noFill/>
          <a:ln w="9525">
            <a:solidFill>
              <a:srgbClr val="C9A84C">
                <a:alpha val="50000"/>
              </a:srgbClr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5372100" y="1844040"/>
            <a:ext cx="3611880" cy="2953512"/>
          </a:xfrm>
          <a:prstGeom prst="rect">
            <a:avLst/>
          </a:prstGeom>
          <a:solidFill>
            <a:srgbClr val="1A1D24"/>
          </a:solidFill>
          <a:ln w="6350">
            <a:solidFill>
              <a:srgbClr val="7EC8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4980" y="1953768"/>
            <a:ext cx="3259501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FF"/>
                </a:solidFill>
              </a:rPr>
              <a:t>fact_annonces — colonnes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4980" y="2301240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annonce_id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46620" y="2301240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PK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54980" y="2584704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id_ville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46620" y="2584704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FK → dim_ville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54980" y="2868168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id_type_bien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46620" y="2868168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FK → dim_type_bien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54980" y="3151632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id_transaction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46620" y="3151632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FK → dim_transaction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54980" y="3435096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id_temps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46620" y="3435096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FK → dim_temps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54980" y="3718560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/ surface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46620" y="3718560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Mesures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54980" y="4002024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prix_m2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46620" y="4002024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Mesure dérivée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54980" y="4285488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nb_chambres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46620" y="4285488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Mesure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54980" y="4568952"/>
            <a:ext cx="1585703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categorie_prix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46620" y="4568952"/>
            <a:ext cx="1673798" cy="220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80"/>
                </a:solidFill>
              </a:rPr>
              <a:t>Attribut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19503" y="48082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880"/>
                </a:solidFill>
              </a:rPr>
              <a:t>Schéma : bi_schema  ·  Optimisé pour Power BI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06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VISUALISATION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Dashboards Power BI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4069080" cy="24231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9385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24712" y="20116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Globale du Marché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578608"/>
            <a:ext cx="37398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Nombre total d'annonces (KPI)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Prix moyen du marché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Surface moyenne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Répartition par ville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Évolution temporelle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Vente vs Location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069080" cy="24231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9385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13832" y="20116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Prix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2578608"/>
            <a:ext cx="37398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Distribution des prix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Prix moyen par m²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Segments Éco / Moyen / Luxe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Prix par type de bien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Catégories de prix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43FAE-EEBB-067A-308D-D588413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41C735-225F-FAD8-72D7-7067E575F7C6}"/>
              </a:ext>
            </a:extLst>
          </p:cNvPr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07 / 9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45EA62-F684-324B-5B9F-8FB21513359A}"/>
              </a:ext>
            </a:extLst>
          </p:cNvPr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VISUALISATION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521F59-E04C-ADFB-19F6-0E761CA70FBE}"/>
              </a:ext>
            </a:extLst>
          </p:cNvPr>
          <p:cNvSpPr/>
          <p:nvPr/>
        </p:nvSpPr>
        <p:spPr>
          <a:xfrm>
            <a:off x="548640" y="1572768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A37E7E-C37D-D8BF-9E22-29039CBD71C0}"/>
              </a:ext>
            </a:extLst>
          </p:cNvPr>
          <p:cNvSpPr/>
          <p:nvPr/>
        </p:nvSpPr>
        <p:spPr>
          <a:xfrm>
            <a:off x="320040" y="1882140"/>
            <a:ext cx="4069080" cy="24231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E391FA-1B9D-A416-FF96-E66ED156EC02}"/>
              </a:ext>
            </a:extLst>
          </p:cNvPr>
          <p:cNvSpPr/>
          <p:nvPr/>
        </p:nvSpPr>
        <p:spPr>
          <a:xfrm>
            <a:off x="484632" y="19918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9E2863-4C33-F26B-7CE5-1BE2355989A9}"/>
              </a:ext>
            </a:extLst>
          </p:cNvPr>
          <p:cNvSpPr/>
          <p:nvPr/>
        </p:nvSpPr>
        <p:spPr>
          <a:xfrm>
            <a:off x="1124712" y="206502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Géographique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931642-C729-2C96-FDED-115532307E79}"/>
              </a:ext>
            </a:extLst>
          </p:cNvPr>
          <p:cNvSpPr/>
          <p:nvPr/>
        </p:nvSpPr>
        <p:spPr>
          <a:xfrm>
            <a:off x="484632" y="2631948"/>
            <a:ext cx="37398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Carte du Maroc interactive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Répartition par ville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Zones les plus chères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Top quartiers par volume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Prix moyen par ville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0DD3885-0945-8C60-2AA7-021924CA93C8}"/>
              </a:ext>
            </a:extLst>
          </p:cNvPr>
          <p:cNvSpPr/>
          <p:nvPr/>
        </p:nvSpPr>
        <p:spPr>
          <a:xfrm>
            <a:off x="4709160" y="1882140"/>
            <a:ext cx="4069080" cy="24231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FDF59E2-B159-2EE1-EB20-8A202A168CA2}"/>
              </a:ext>
            </a:extLst>
          </p:cNvPr>
          <p:cNvSpPr/>
          <p:nvPr/>
        </p:nvSpPr>
        <p:spPr>
          <a:xfrm>
            <a:off x="4873752" y="19918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F73CC6F-7187-A08D-EA27-9C28D4E5F0B4}"/>
              </a:ext>
            </a:extLst>
          </p:cNvPr>
          <p:cNvSpPr/>
          <p:nvPr/>
        </p:nvSpPr>
        <p:spPr>
          <a:xfrm>
            <a:off x="5513832" y="206502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Tendances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EBD0A83-726A-7DC3-1201-0AEF7535C263}"/>
              </a:ext>
            </a:extLst>
          </p:cNvPr>
          <p:cNvSpPr/>
          <p:nvPr/>
        </p:nvSpPr>
        <p:spPr>
          <a:xfrm>
            <a:off x="4873752" y="2631948"/>
            <a:ext cx="37398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Évolution des prix dans le temps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Croissance des annonces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Tendances du marché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Analyse saisonnière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8880"/>
                </a:solidFill>
              </a:rPr>
              <a:t>Comparaison N vs N-1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50730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08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POWER BI · DAX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Indicateurs Métier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01952"/>
            <a:ext cx="4114800" cy="347472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47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Moyen = AVERAGE(fact_annonces[prix])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4114800" cy="347472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 Annonces = COUNTROWS(fact_annonces)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114800" cy="347472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Moyen M² = AVERAGE(fact_annonces[prix_m2])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4114800" cy="347472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09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Moyenne = AVERAGE(fact_annonces[surface])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4114800" cy="347472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30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Moyen / Ville = CALCULATE([Prix Moyen], dim_ville)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4114800" cy="347472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50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 Croissance = ([Nb N] - [Nb N-1]) / [Nb N-1]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749040" cy="306324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38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Filtres interactifs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359152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2404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E8"/>
                </a:solidFill>
              </a:rPr>
              <a:t>🏙️  Ville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2752344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27980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E8"/>
                </a:solidFill>
              </a:rPr>
              <a:t>🏠  Type de bien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3145536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31912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E8"/>
                </a:solidFill>
              </a:rPr>
              <a:t>💼  Transaction (Vente / Location)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0" y="3538728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35844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E8"/>
                </a:solidFill>
              </a:rPr>
              <a:t>💰  Plage de prix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12080" y="3931920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3977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E8"/>
                </a:solidFill>
              </a:rPr>
              <a:t>📐  Surface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4325112"/>
            <a:ext cx="338328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3708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E8"/>
                </a:solidFill>
              </a:rPr>
              <a:t>📅  Période (année / trimestre / mois)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12080" y="4754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A8880"/>
                </a:solidFill>
              </a:rPr>
              <a:t>Tous les visuels sont dynamiques et réactifs aux filtres — connexion directe PostgreSQL via Power Query.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5486400" cy="4572000"/>
          </a:xfrm>
          <a:prstGeom prst="ellipse">
            <a:avLst/>
          </a:prstGeom>
          <a:solidFill>
            <a:srgbClr val="C9A84C">
              <a:alpha val="3000"/>
            </a:srgbClr>
          </a:solidFill>
          <a:ln w="12700">
            <a:solidFill>
              <a:srgbClr val="C9A84C">
                <a:alpha val="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28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880"/>
                </a:solidFill>
              </a:rPr>
              <a:t>09 /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C9A84C"/>
                </a:solidFill>
              </a:rPr>
              <a:t>STACK TECHNOLOGIQUE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utilisées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343400" y="1298448"/>
            <a:ext cx="457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63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Pandas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SQLAlchemy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49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Power BI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DAX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5240" y="1645920"/>
            <a:ext cx="960120" cy="822960"/>
          </a:xfrm>
          <a:prstGeom prst="rect">
            <a:avLst/>
          </a:prstGeom>
          <a:solidFill>
            <a:srgbClr val="1A1D24"/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35240" y="2039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880"/>
                </a:solidFill>
              </a:rPr>
              <a:t>Power Query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86200" y="2834640"/>
            <a:ext cx="1371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Salma EL Yamani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0" y="3703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8A8880"/>
                </a:solidFill>
              </a:rPr>
              <a:t>Projet Data Warehouse &amp; Business Intelligence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0" y="40233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880"/>
                </a:solidFill>
              </a:rPr>
              <a:t>Pipeline ETL  ·  Star Schema  ·  Power BI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799</Words>
  <Application>Microsoft Office PowerPoint</Application>
  <PresentationFormat>Affichage à l'écran (16:9)</PresentationFormat>
  <Paragraphs>212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Darkom Data Warehouse Project</dc:title>
  <dc:subject>PptxGenJS Presentation</dc:subject>
  <dc:creator>Salma EL Yamani</dc:creator>
  <cp:lastModifiedBy>Ymn Salli</cp:lastModifiedBy>
  <cp:revision>2</cp:revision>
  <dcterms:created xsi:type="dcterms:W3CDTF">2026-06-02T20:14:53Z</dcterms:created>
  <dcterms:modified xsi:type="dcterms:W3CDTF">2026-06-02T20:43:49Z</dcterms:modified>
</cp:coreProperties>
</file>